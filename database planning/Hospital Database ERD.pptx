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58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C3871-BBF7-7D88-9F9C-C08E4F9F3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099D43-9171-2AEF-053C-F5F0FCBEA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C5ED6-E4C8-5253-76DD-CA7FB71CC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A3A3-BB2B-46F6-BD8A-F420E8958CE1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62354-C2D1-7553-37AD-B2B81C2FE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46749-6AD9-927C-3A72-742518DB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043-67F6-4BA6-BD50-39DFA67E35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841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A755E-7A6B-772F-D854-80BA2ACFE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1C8F2-ABCD-31C3-316F-065434AC0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BAA7E-0D51-9D74-96E7-A44E959A2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A3A3-BB2B-46F6-BD8A-F420E8958CE1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932CD-54DE-9DA0-3271-3B1C2252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4447C-1207-057E-42C0-67388DB17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043-67F6-4BA6-BD50-39DFA67E35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591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AE82-D2F3-7758-B0CF-7456BC990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29895-A6CF-5299-93A2-219E13D8F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BFD33-A958-D0C7-C967-654461652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A3A3-BB2B-46F6-BD8A-F420E8958CE1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AB12C-4C5D-DAD2-18F1-3680865B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A16FE-7539-297B-852B-5288FA384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043-67F6-4BA6-BD50-39DFA67E35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840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B48BD-7EF8-43FB-7F4C-3F40895D8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90A49-9C3B-87CA-6F51-F794B5244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D08666-58FF-0CE9-ACF9-F57121D15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05AA7-3BC2-8B7F-CFDB-6E55B3B6E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A3A3-BB2B-46F6-BD8A-F420E8958CE1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9913C-03B2-D2FB-F067-8FA72109F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CBBFA-77AA-68F6-81A4-7274EF2F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043-67F6-4BA6-BD50-39DFA67E35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288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E8150-C62E-D832-8BBC-DCE90DFD0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CA9EA-4D31-C8EC-B22C-18996B432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623F6-0D48-399A-5008-410CB5EEF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B5338-A91C-B24E-E25F-CBE6AC1370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45CB2F-8479-665A-1AE9-F40D60F017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80E3D3-427D-CDD1-2965-B3295860A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A3A3-BB2B-46F6-BD8A-F420E8958CE1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477545-9271-F11C-0CE1-5634C67E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590A32-6B6D-1338-3854-9A971418A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043-67F6-4BA6-BD50-39DFA67E35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7454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59309-0CE5-4C45-79C4-E135090D6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37BF5C-2A54-A855-4CC1-B1330C0AD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A3A3-BB2B-46F6-BD8A-F420E8958CE1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217BC-D6D1-172F-EBDB-64A4E6B7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0E691-2DD6-8D0C-AA6B-3ADF466D9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043-67F6-4BA6-BD50-39DFA67E35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79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523E65-92E5-B786-78B3-C33BD9A0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A3A3-BB2B-46F6-BD8A-F420E8958CE1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5334E-33AC-8CAF-9C1C-131869181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8F36D-4E42-34C7-3DAF-5D8D038F7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043-67F6-4BA6-BD50-39DFA67E35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6560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425CB-0EC5-0AB6-A14A-D7FA7E452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1DF9B-7668-C1C9-42B2-5E1A278A3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AF548-5ABD-4F1B-551A-43F3F6486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A08B8-E3BA-2726-D60D-3B7E2DA50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A3A3-BB2B-46F6-BD8A-F420E8958CE1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38423-AE29-B8B8-5D1C-8B435BF4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77885-72C6-86A2-B741-80F1F569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043-67F6-4BA6-BD50-39DFA67E35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2786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0B91E-32C5-B2D2-5910-538496B4B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9047AB-3D76-DC80-99C5-C78561610B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88B8C2-C96E-8CF0-2435-8C1E73857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9FFBF-847E-3C82-9F64-7D3F9268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A3A3-BB2B-46F6-BD8A-F420E8958CE1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54A79-1D5F-1291-10E0-8BC7EE696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B6B88-2734-D8FD-8E08-227AA7D7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043-67F6-4BA6-BD50-39DFA67E35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049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71CCF-DCA4-2648-ACB4-F5D04B188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A7CFF-D18E-B64F-F6CD-DE4ACE7A8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3FB44-D83A-B165-CD4D-42A9EEB01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A3A3-BB2B-46F6-BD8A-F420E8958CE1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D4300-98AC-EF84-58F9-4EDA6C48E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D8302-F13B-9172-9B4C-80C9E56A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043-67F6-4BA6-BD50-39DFA67E35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545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C17F2E-F972-8C1C-DA24-B6F1C648F0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01F49E-DFEE-C4DD-CFB4-7E67CFCD6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94474-D77A-D02B-41CD-70D30754A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A3A3-BB2B-46F6-BD8A-F420E8958CE1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591F5-E1D2-0581-DD76-7B6CDC956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0891B-D0CA-5586-59E4-AC968EA27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2043-67F6-4BA6-BD50-39DFA67E35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340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BD6656-A0E2-32B1-3BBE-FFBA521DA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A37DF-C0A6-F991-7FA7-DB1570092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A0CFB-4EF4-62CF-29F8-8E7F3C1ACC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DDA3A3-BB2B-46F6-BD8A-F420E8958CE1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791EF-B9BD-B0E8-8B8F-38E62290A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57F9D-85F2-0F98-8627-9DE232B17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22043-67F6-4BA6-BD50-39DFA67E35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927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024AFD-0CFF-FE1C-8C1C-C6DA7ED58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583436"/>
              </p:ext>
            </p:extLst>
          </p:nvPr>
        </p:nvGraphicFramePr>
        <p:xfrm>
          <a:off x="812800" y="608830"/>
          <a:ext cx="3651492" cy="2440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355">
                  <a:extLst>
                    <a:ext uri="{9D8B030D-6E8A-4147-A177-3AD203B41FA5}">
                      <a16:colId xmlns:a16="http://schemas.microsoft.com/office/drawing/2014/main" val="4170163393"/>
                    </a:ext>
                  </a:extLst>
                </a:gridCol>
                <a:gridCol w="1531137">
                  <a:extLst>
                    <a:ext uri="{9D8B030D-6E8A-4147-A177-3AD203B41FA5}">
                      <a16:colId xmlns:a16="http://schemas.microsoft.com/office/drawing/2014/main" val="1789571004"/>
                    </a:ext>
                  </a:extLst>
                </a:gridCol>
              </a:tblGrid>
              <a:tr h="305024">
                <a:tc gridSpan="2"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hospitals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170077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b="1" dirty="0"/>
                        <a:t>Field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083926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dirty="0" err="1"/>
                        <a:t>hospital_id</a:t>
                      </a:r>
                      <a:r>
                        <a:rPr lang="en-GB" sz="1200" dirty="0"/>
                        <a:t> (PK)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490238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VARCHAR(100)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328510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dirty="0"/>
                        <a:t>address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VARCHAR(255)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486965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dirty="0"/>
                        <a:t>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946886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dirty="0"/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VARCHAR(50)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145705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dirty="0" err="1"/>
                        <a:t>accreditation_status</a:t>
                      </a:r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VARCHAR(50)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22693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6EE8DD-C04F-8CB3-38E0-8E1E1651A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193250"/>
              </p:ext>
            </p:extLst>
          </p:nvPr>
        </p:nvGraphicFramePr>
        <p:xfrm>
          <a:off x="6519307" y="623455"/>
          <a:ext cx="3651492" cy="2425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355">
                  <a:extLst>
                    <a:ext uri="{9D8B030D-6E8A-4147-A177-3AD203B41FA5}">
                      <a16:colId xmlns:a16="http://schemas.microsoft.com/office/drawing/2014/main" val="4170163393"/>
                    </a:ext>
                  </a:extLst>
                </a:gridCol>
                <a:gridCol w="1531137">
                  <a:extLst>
                    <a:ext uri="{9D8B030D-6E8A-4147-A177-3AD203B41FA5}">
                      <a16:colId xmlns:a16="http://schemas.microsoft.com/office/drawing/2014/main" val="1789571004"/>
                    </a:ext>
                  </a:extLst>
                </a:gridCol>
              </a:tblGrid>
              <a:tr h="290399">
                <a:tc gridSpan="2"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doctors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170077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b="1" dirty="0"/>
                        <a:t>Field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083926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dirty="0" err="1"/>
                        <a:t>person_id</a:t>
                      </a:r>
                      <a:r>
                        <a:rPr lang="en-GB" sz="1200" dirty="0"/>
                        <a:t> (PK)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490238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VARCHAR(100)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328510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dirty="0" err="1"/>
                        <a:t>date_of_birth</a:t>
                      </a:r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486965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dirty="0"/>
                        <a:t>address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VARCHAR(255)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946886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VARCHAR(50)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145705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dirty="0" err="1"/>
                        <a:t>hospital_id</a:t>
                      </a:r>
                      <a:r>
                        <a:rPr lang="en-GB" sz="1200" dirty="0"/>
                        <a:t> (FK)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2269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4041C7A-534E-2FB2-0D83-AE34780A9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724640"/>
              </p:ext>
            </p:extLst>
          </p:nvPr>
        </p:nvGraphicFramePr>
        <p:xfrm>
          <a:off x="812800" y="3881264"/>
          <a:ext cx="3651492" cy="2440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355">
                  <a:extLst>
                    <a:ext uri="{9D8B030D-6E8A-4147-A177-3AD203B41FA5}">
                      <a16:colId xmlns:a16="http://schemas.microsoft.com/office/drawing/2014/main" val="4170163393"/>
                    </a:ext>
                  </a:extLst>
                </a:gridCol>
                <a:gridCol w="1531137">
                  <a:extLst>
                    <a:ext uri="{9D8B030D-6E8A-4147-A177-3AD203B41FA5}">
                      <a16:colId xmlns:a16="http://schemas.microsoft.com/office/drawing/2014/main" val="1789571004"/>
                    </a:ext>
                  </a:extLst>
                </a:gridCol>
              </a:tblGrid>
              <a:tr h="305024">
                <a:tc gridSpan="2"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patients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170077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b="1" dirty="0"/>
                        <a:t>Field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083926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dirty="0" err="1"/>
                        <a:t>person_id</a:t>
                      </a:r>
                      <a:r>
                        <a:rPr lang="en-GB" sz="1200" dirty="0"/>
                        <a:t> (PK)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490238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VARCHAR(100)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328510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dirty="0" err="1"/>
                        <a:t>date_of_birth</a:t>
                      </a:r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486965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dirty="0"/>
                        <a:t>address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VARCHAR(255)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946886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VARCHAR(50)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145705"/>
                  </a:ext>
                </a:extLst>
              </a:tr>
              <a:tr h="305024">
                <a:tc>
                  <a:txBody>
                    <a:bodyPr/>
                    <a:lstStyle/>
                    <a:p>
                      <a:r>
                        <a:rPr lang="en-GB" sz="1200" dirty="0" err="1"/>
                        <a:t>doctor_id</a:t>
                      </a:r>
                      <a:r>
                        <a:rPr lang="en-GB" sz="1200" dirty="0"/>
                        <a:t> (FK)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22693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B102261-8D5A-AEB6-8740-3073EECE7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688101"/>
              </p:ext>
            </p:extLst>
          </p:nvPr>
        </p:nvGraphicFramePr>
        <p:xfrm>
          <a:off x="6519307" y="3881264"/>
          <a:ext cx="3513841" cy="2356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0423">
                  <a:extLst>
                    <a:ext uri="{9D8B030D-6E8A-4147-A177-3AD203B41FA5}">
                      <a16:colId xmlns:a16="http://schemas.microsoft.com/office/drawing/2014/main" val="4170163393"/>
                    </a:ext>
                  </a:extLst>
                </a:gridCol>
                <a:gridCol w="1473418">
                  <a:extLst>
                    <a:ext uri="{9D8B030D-6E8A-4147-A177-3AD203B41FA5}">
                      <a16:colId xmlns:a16="http://schemas.microsoft.com/office/drawing/2014/main" val="1789571004"/>
                    </a:ext>
                  </a:extLst>
                </a:gridCol>
              </a:tblGrid>
              <a:tr h="236843">
                <a:tc gridSpan="2"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prescriptions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170077"/>
                  </a:ext>
                </a:extLst>
              </a:tr>
              <a:tr h="347043">
                <a:tc>
                  <a:txBody>
                    <a:bodyPr/>
                    <a:lstStyle/>
                    <a:p>
                      <a:r>
                        <a:rPr lang="en-GB" sz="1200" b="1" dirty="0"/>
                        <a:t>Field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083926"/>
                  </a:ext>
                </a:extLst>
              </a:tr>
              <a:tr h="347043">
                <a:tc>
                  <a:txBody>
                    <a:bodyPr/>
                    <a:lstStyle/>
                    <a:p>
                      <a:r>
                        <a:rPr lang="en-GB" sz="1200" dirty="0" err="1"/>
                        <a:t>prescription_id</a:t>
                      </a:r>
                      <a:r>
                        <a:rPr lang="en-GB" sz="1200" dirty="0"/>
                        <a:t> (PK)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490238"/>
                  </a:ext>
                </a:extLst>
              </a:tr>
              <a:tr h="347043">
                <a:tc>
                  <a:txBody>
                    <a:bodyPr/>
                    <a:lstStyle/>
                    <a:p>
                      <a:r>
                        <a:rPr lang="en-GB" sz="1200" dirty="0" err="1"/>
                        <a:t>patient_id</a:t>
                      </a:r>
                      <a:r>
                        <a:rPr lang="en-GB" sz="1200" dirty="0"/>
                        <a:t> (FK)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328510"/>
                  </a:ext>
                </a:extLst>
              </a:tr>
              <a:tr h="347043">
                <a:tc>
                  <a:txBody>
                    <a:bodyPr/>
                    <a:lstStyle/>
                    <a:p>
                      <a:r>
                        <a:rPr lang="en-GB" sz="1200" dirty="0" err="1"/>
                        <a:t>doctor_id</a:t>
                      </a:r>
                      <a:r>
                        <a:rPr lang="en-GB" sz="1200" dirty="0"/>
                        <a:t> (FK)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486965"/>
                  </a:ext>
                </a:extLst>
              </a:tr>
              <a:tr h="347043">
                <a:tc>
                  <a:txBody>
                    <a:bodyPr/>
                    <a:lstStyle/>
                    <a:p>
                      <a:r>
                        <a:rPr lang="en-GB" sz="1200" dirty="0"/>
                        <a:t>medication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VARCHAR(100)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946886"/>
                  </a:ext>
                </a:extLst>
              </a:tr>
              <a:tr h="347043">
                <a:tc>
                  <a:txBody>
                    <a:bodyPr/>
                    <a:lstStyle/>
                    <a:p>
                      <a:r>
                        <a:rPr lang="en-GB" sz="1200" dirty="0" err="1"/>
                        <a:t>prescription_date</a:t>
                      </a:r>
                      <a:endParaRPr lang="en-GB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145705"/>
                  </a:ext>
                </a:extLst>
              </a:tr>
            </a:tbl>
          </a:graphicData>
        </a:graphic>
      </p:graphicFrame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A7EF687-4491-CAB8-031E-C8E4D4459F4A}"/>
              </a:ext>
            </a:extLst>
          </p:cNvPr>
          <p:cNvCxnSpPr/>
          <p:nvPr/>
        </p:nvCxnSpPr>
        <p:spPr>
          <a:xfrm>
            <a:off x="4464292" y="1297857"/>
            <a:ext cx="2055015" cy="10815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23D78EB-6005-C0B9-A25B-FC442B69BFBC}"/>
              </a:ext>
            </a:extLst>
          </p:cNvPr>
          <p:cNvCxnSpPr/>
          <p:nvPr/>
        </p:nvCxnSpPr>
        <p:spPr>
          <a:xfrm>
            <a:off x="4464291" y="4692220"/>
            <a:ext cx="2055015" cy="10815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81FB9AF0-D68A-5B5C-0B4E-1D9535FEB796}"/>
              </a:ext>
            </a:extLst>
          </p:cNvPr>
          <p:cNvCxnSpPr/>
          <p:nvPr/>
        </p:nvCxnSpPr>
        <p:spPr>
          <a:xfrm rot="16200000" flipH="1">
            <a:off x="6977737" y="3248833"/>
            <a:ext cx="832242" cy="43262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04017AF-4B28-9F34-AC7F-061400AF5ADC}"/>
              </a:ext>
            </a:extLst>
          </p:cNvPr>
          <p:cNvSpPr txBox="1"/>
          <p:nvPr/>
        </p:nvSpPr>
        <p:spPr>
          <a:xfrm>
            <a:off x="4464291" y="1004477"/>
            <a:ext cx="428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6C8E41-6888-FAF3-9666-D3B2C935BD89}"/>
              </a:ext>
            </a:extLst>
          </p:cNvPr>
          <p:cNvSpPr txBox="1"/>
          <p:nvPr/>
        </p:nvSpPr>
        <p:spPr>
          <a:xfrm>
            <a:off x="6219093" y="1135917"/>
            <a:ext cx="428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F5F275-DA5C-D7BA-D086-9A70814957DF}"/>
              </a:ext>
            </a:extLst>
          </p:cNvPr>
          <p:cNvSpPr txBox="1"/>
          <p:nvPr/>
        </p:nvSpPr>
        <p:spPr>
          <a:xfrm>
            <a:off x="6274511" y="1881877"/>
            <a:ext cx="428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1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BD44A3B-4708-C0C7-645C-CBE6573DD426}"/>
              </a:ext>
            </a:extLst>
          </p:cNvPr>
          <p:cNvCxnSpPr>
            <a:cxnSpLocks/>
          </p:cNvCxnSpPr>
          <p:nvPr/>
        </p:nvCxnSpPr>
        <p:spPr>
          <a:xfrm flipV="1">
            <a:off x="4464291" y="2165780"/>
            <a:ext cx="2055015" cy="194775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34F2FDE-F50F-B8C1-7203-782A6BC92CBB}"/>
              </a:ext>
            </a:extLst>
          </p:cNvPr>
          <p:cNvSpPr txBox="1"/>
          <p:nvPr/>
        </p:nvSpPr>
        <p:spPr>
          <a:xfrm>
            <a:off x="4464291" y="3836539"/>
            <a:ext cx="428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CDA4F8-B53F-6E8B-E1B9-A667D8565A4F}"/>
              </a:ext>
            </a:extLst>
          </p:cNvPr>
          <p:cNvSpPr txBox="1"/>
          <p:nvPr/>
        </p:nvSpPr>
        <p:spPr>
          <a:xfrm>
            <a:off x="6219092" y="4555565"/>
            <a:ext cx="428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AC1D1B2-EF06-2395-8530-ACA428AF969E}"/>
              </a:ext>
            </a:extLst>
          </p:cNvPr>
          <p:cNvSpPr txBox="1"/>
          <p:nvPr/>
        </p:nvSpPr>
        <p:spPr>
          <a:xfrm>
            <a:off x="4450435" y="4455240"/>
            <a:ext cx="428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E3218A8-E7E2-DA6D-250A-1E7F8B93A78C}"/>
              </a:ext>
            </a:extLst>
          </p:cNvPr>
          <p:cNvSpPr txBox="1"/>
          <p:nvPr/>
        </p:nvSpPr>
        <p:spPr>
          <a:xfrm>
            <a:off x="7156795" y="3049644"/>
            <a:ext cx="428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555E0F-CBD4-6640-9B2D-09A387D87725}"/>
              </a:ext>
            </a:extLst>
          </p:cNvPr>
          <p:cNvSpPr txBox="1"/>
          <p:nvPr/>
        </p:nvSpPr>
        <p:spPr>
          <a:xfrm>
            <a:off x="7610168" y="3604265"/>
            <a:ext cx="428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M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0E42BBA-8C21-B49A-B844-2F0B88608F42}"/>
              </a:ext>
            </a:extLst>
          </p:cNvPr>
          <p:cNvSpPr txBox="1"/>
          <p:nvPr/>
        </p:nvSpPr>
        <p:spPr>
          <a:xfrm>
            <a:off x="4225636" y="129535"/>
            <a:ext cx="2750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Hospital Database ERD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0FCF9EE-1634-061D-FDD9-D07C1A66266B}"/>
              </a:ext>
            </a:extLst>
          </p:cNvPr>
          <p:cNvSpPr txBox="1"/>
          <p:nvPr/>
        </p:nvSpPr>
        <p:spPr>
          <a:xfrm>
            <a:off x="2869727" y="6504041"/>
            <a:ext cx="7299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Legend: </a:t>
            </a:r>
            <a:r>
              <a:rPr lang="en-GB" sz="1400" dirty="0"/>
              <a:t>PK = Primary Key ; FK = Foreign Key ; 1:M = One-to-many relationship</a:t>
            </a:r>
          </a:p>
        </p:txBody>
      </p:sp>
    </p:spTree>
    <p:extLst>
      <p:ext uri="{BB962C8B-B14F-4D97-AF65-F5344CB8AC3E}">
        <p14:creationId xmlns:p14="http://schemas.microsoft.com/office/powerpoint/2010/main" val="1397703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176</Words>
  <Application>Microsoft Office PowerPoint</Application>
  <PresentationFormat>Widescreen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Varella, Sydelle</dc:creator>
  <cp:lastModifiedBy>Varella, Sydelle</cp:lastModifiedBy>
  <cp:revision>2</cp:revision>
  <dcterms:created xsi:type="dcterms:W3CDTF">2026-10-11T15:29:12Z</dcterms:created>
  <dcterms:modified xsi:type="dcterms:W3CDTF">2026-10-11T15:37:40Z</dcterms:modified>
</cp:coreProperties>
</file>